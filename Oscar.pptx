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7" r:id="rId2"/>
    <p:sldId id="259" r:id="rId3"/>
    <p:sldId id="260"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62569F-38AF-4CD3-BA34-3E4E354E3DF2}" type="datetimeFigureOut">
              <a:rPr lang="en-US" smtClean="0"/>
              <a:t>1/17/2021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23B090-709F-4AB3-853E-4A2A6361A7B3}" type="slidenum">
              <a:rPr lang="en-US" smtClean="0"/>
              <a:t>‹#›</a:t>
            </a:fld>
            <a:endParaRPr lang="en-US"/>
          </a:p>
        </p:txBody>
      </p:sp>
    </p:spTree>
    <p:extLst>
      <p:ext uri="{BB962C8B-B14F-4D97-AF65-F5344CB8AC3E}">
        <p14:creationId xmlns:p14="http://schemas.microsoft.com/office/powerpoint/2010/main" val="499455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Cover Page</a:t>
            </a:r>
          </a:p>
        </p:txBody>
      </p:sp>
      <p:sp>
        <p:nvSpPr>
          <p:cNvPr id="4" name="Slide Number Placeholder 3"/>
          <p:cNvSpPr>
            <a:spLocks noGrp="1"/>
          </p:cNvSpPr>
          <p:nvPr>
            <p:ph type="sldNum" sz="quarter" idx="10"/>
          </p:nvPr>
        </p:nvSpPr>
        <p:spPr/>
        <p:txBody>
          <a:bodyPr/>
          <a:lstStyle/>
          <a:p>
            <a:fld id="{3F802A4C-9CF5-44B3-A9DA-B320E46792E0}" type="slidenum">
              <a:rPr lang="en-US" smtClean="0"/>
              <a:pPr/>
              <a:t>1</a:t>
            </a:fld>
            <a:endParaRPr lang="en-US"/>
          </a:p>
        </p:txBody>
      </p:sp>
    </p:spTree>
    <p:extLst>
      <p:ext uri="{BB962C8B-B14F-4D97-AF65-F5344CB8AC3E}">
        <p14:creationId xmlns:p14="http://schemas.microsoft.com/office/powerpoint/2010/main" val="1875313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1/17/2021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1/17/2021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1/17/2021</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1/17/2021</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1/17/2021</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1/17/2021</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1/17/2021</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1/17/2021</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9.png"/><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ity.jpg"/>
          <p:cNvPicPr>
            <a:picLocks noChangeAspect="1"/>
          </p:cNvPicPr>
          <p:nvPr/>
        </p:nvPicPr>
        <p:blipFill>
          <a:blip r:embed="rId4" cstate="print">
            <a:grayscl/>
          </a:blip>
          <a:stretch>
            <a:fillRect/>
          </a:stretch>
        </p:blipFill>
        <p:spPr>
          <a:xfrm>
            <a:off x="0" y="0"/>
            <a:ext cx="12192000" cy="6858000"/>
          </a:xfrm>
          <a:prstGeom prst="rect">
            <a:avLst/>
          </a:prstGeom>
        </p:spPr>
      </p:pic>
      <p:pic>
        <p:nvPicPr>
          <p:cNvPr id="4" name="Picture 3" descr="download.png"/>
          <p:cNvPicPr>
            <a:picLocks noChangeAspect="1"/>
          </p:cNvPicPr>
          <p:nvPr/>
        </p:nvPicPr>
        <p:blipFill>
          <a:blip r:embed="rId5" cstate="print"/>
          <a:stretch>
            <a:fillRect/>
          </a:stretch>
        </p:blipFill>
        <p:spPr>
          <a:xfrm>
            <a:off x="5331039" y="1410789"/>
            <a:ext cx="4674974" cy="4572000"/>
          </a:xfrm>
          <a:prstGeom prst="rect">
            <a:avLst/>
          </a:prstGeom>
        </p:spPr>
      </p:pic>
      <p:pic>
        <p:nvPicPr>
          <p:cNvPr id="5" name="Picture 4" descr="Capture.PNG"/>
          <p:cNvPicPr>
            <a:picLocks noChangeAspect="1"/>
          </p:cNvPicPr>
          <p:nvPr/>
        </p:nvPicPr>
        <p:blipFill>
          <a:blip r:embed="rId6" cstate="print"/>
          <a:stretch>
            <a:fillRect/>
          </a:stretch>
        </p:blipFill>
        <p:spPr>
          <a:xfrm>
            <a:off x="6324600" y="2590801"/>
            <a:ext cx="2743200" cy="1676099"/>
          </a:xfrm>
          <a:prstGeom prst="rect">
            <a:avLst/>
          </a:prstGeom>
          <a:ln>
            <a:noFill/>
          </a:ln>
          <a:effectLst>
            <a:outerShdw blurRad="292100" dist="139700" dir="2700000" algn="tl" rotWithShape="0">
              <a:srgbClr val="333333">
                <a:alpha val="65000"/>
              </a:srgbClr>
            </a:outerShdw>
          </a:effectLst>
        </p:spPr>
      </p:pic>
      <p:sp>
        <p:nvSpPr>
          <p:cNvPr id="6" name="Rectangle 5"/>
          <p:cNvSpPr/>
          <p:nvPr/>
        </p:nvSpPr>
        <p:spPr>
          <a:xfrm>
            <a:off x="1066801" y="2286001"/>
            <a:ext cx="4876800" cy="830997"/>
          </a:xfrm>
          <a:prstGeom prst="rect">
            <a:avLst/>
          </a:prstGeom>
          <a:noFill/>
        </p:spPr>
        <p:txBody>
          <a:bodyPr wrap="squar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lvl="1"/>
            <a:r>
              <a:rPr lang="en-US" sz="4800" b="1" dirty="0">
                <a:ln w="50800"/>
                <a:latin typeface="Bahnschrift SemiBold" pitchFamily="34" charset="0"/>
              </a:rPr>
              <a:t> </a:t>
            </a:r>
          </a:p>
        </p:txBody>
      </p:sp>
      <p:sp>
        <p:nvSpPr>
          <p:cNvPr id="7" name="Rectangle 6"/>
          <p:cNvSpPr/>
          <p:nvPr/>
        </p:nvSpPr>
        <p:spPr>
          <a:xfrm>
            <a:off x="1524001" y="3048000"/>
            <a:ext cx="4762499" cy="1569660"/>
          </a:xfrm>
          <a:prstGeom prst="rect">
            <a:avLst/>
          </a:prstGeom>
          <a:noFill/>
        </p:spPr>
        <p:txBody>
          <a:bodyPr wrap="squar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endParaRPr lang="en-US" sz="4800" b="1" dirty="0">
              <a:ln w="50800"/>
              <a:solidFill>
                <a:schemeClr val="bg1">
                  <a:shade val="50000"/>
                </a:schemeClr>
              </a:solidFill>
              <a:latin typeface="Bahnschrift SemiBold" pitchFamily="34" charset="0"/>
            </a:endParaRPr>
          </a:p>
          <a:p>
            <a:endParaRPr lang="en-US" sz="4800" b="1" dirty="0">
              <a:ln w="50800"/>
              <a:solidFill>
                <a:schemeClr val="bg1">
                  <a:shade val="50000"/>
                </a:schemeClr>
              </a:solidFill>
              <a:latin typeface="Bahnschrift SemiBold" pitchFamily="34" charset="0"/>
            </a:endParaRPr>
          </a:p>
        </p:txBody>
      </p:sp>
      <p:sp>
        <p:nvSpPr>
          <p:cNvPr id="8" name="Rectangle 7"/>
          <p:cNvSpPr/>
          <p:nvPr/>
        </p:nvSpPr>
        <p:spPr>
          <a:xfrm>
            <a:off x="1524001" y="3810000"/>
            <a:ext cx="4724399" cy="1569660"/>
          </a:xfrm>
          <a:prstGeom prst="rect">
            <a:avLst/>
          </a:prstGeom>
          <a:noFill/>
        </p:spPr>
        <p:txBody>
          <a:bodyPr wrap="squar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endParaRPr lang="en-US" sz="4800" b="1" dirty="0">
              <a:ln w="50800"/>
              <a:latin typeface="Bahnschrift SemiBold" pitchFamily="34" charset="0"/>
            </a:endParaRPr>
          </a:p>
          <a:p>
            <a:endParaRPr lang="en-US" sz="4800" b="1" dirty="0">
              <a:ln w="50800"/>
            </a:endParaRPr>
          </a:p>
        </p:txBody>
      </p:sp>
      <p:sp>
        <p:nvSpPr>
          <p:cNvPr id="9" name="Parallelogram 8"/>
          <p:cNvSpPr/>
          <p:nvPr/>
        </p:nvSpPr>
        <p:spPr>
          <a:xfrm>
            <a:off x="0" y="2197828"/>
            <a:ext cx="5888252" cy="2438400"/>
          </a:xfrm>
          <a:prstGeom prst="parallelogram">
            <a:avLst/>
          </a:prstGeom>
          <a:solidFill>
            <a:srgbClr val="009999">
              <a:alpha val="70000"/>
            </a:srgbClr>
          </a:solidFill>
          <a:ln>
            <a:solidFill>
              <a:srgbClr val="00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ln w="50800"/>
              <a:latin typeface="Bahnschrift SemiBold" pitchFamily="34" charset="0"/>
            </a:endParaRPr>
          </a:p>
          <a:p>
            <a:pPr algn="ctr"/>
            <a:endParaRPr lang="en-US" b="1" dirty="0" smtClean="0">
              <a:ln w="50800"/>
              <a:latin typeface="Bahnschrift SemiBold" pitchFamily="34" charset="0"/>
            </a:endParaRPr>
          </a:p>
          <a:p>
            <a:pPr algn="ctr"/>
            <a:endParaRPr lang="en-US" b="1" dirty="0">
              <a:ln w="50800"/>
              <a:latin typeface="Bahnschrift SemiBold" pitchFamily="34" charset="0"/>
            </a:endParaRPr>
          </a:p>
          <a:p>
            <a:pPr algn="ctr"/>
            <a:endParaRPr lang="en-US" b="1" dirty="0" smtClean="0">
              <a:ln w="50800"/>
              <a:latin typeface="Bahnschrift SemiBold" pitchFamily="34" charset="0"/>
            </a:endParaRPr>
          </a:p>
          <a:p>
            <a:pPr algn="ctr"/>
            <a:endParaRPr lang="en-US" b="1" dirty="0">
              <a:ln w="50800"/>
              <a:latin typeface="Bahnschrift SemiBold" pitchFamily="34" charset="0"/>
            </a:endParaRPr>
          </a:p>
          <a:p>
            <a:pPr algn="ctr"/>
            <a:r>
              <a:rPr lang="en-US" b="1" dirty="0" smtClean="0">
                <a:ln w="50800"/>
                <a:latin typeface="Bahnschrift SemiBold" pitchFamily="34" charset="0"/>
              </a:rPr>
              <a:t>AI </a:t>
            </a:r>
            <a:r>
              <a:rPr lang="en-US" b="1" dirty="0">
                <a:ln w="50800"/>
                <a:latin typeface="Bahnschrift SemiBold" pitchFamily="34" charset="0"/>
              </a:rPr>
              <a:t>Assistant</a:t>
            </a:r>
          </a:p>
          <a:p>
            <a:pPr algn="ctr"/>
            <a:endParaRPr lang="en-US" dirty="0">
              <a:solidFill>
                <a:schemeClr val="tx1"/>
              </a:solidFill>
            </a:endParaRPr>
          </a:p>
        </p:txBody>
      </p:sp>
      <p:sp>
        <p:nvSpPr>
          <p:cNvPr id="10" name="Rectangle 9"/>
          <p:cNvSpPr/>
          <p:nvPr/>
        </p:nvSpPr>
        <p:spPr>
          <a:xfrm>
            <a:off x="-659024" y="2286001"/>
            <a:ext cx="6297826" cy="1569660"/>
          </a:xfrm>
          <a:prstGeom prst="rect">
            <a:avLst/>
          </a:prstGeom>
          <a:noFill/>
        </p:spPr>
        <p:txBody>
          <a:bodyPr wrap="squar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a:r>
              <a:rPr lang="en-US" sz="4800" b="1" dirty="0" smtClean="0">
                <a:ln w="50800"/>
                <a:latin typeface="Bahnschrift SemiBold" pitchFamily="34" charset="0"/>
              </a:rPr>
              <a:t>      </a:t>
            </a:r>
          </a:p>
          <a:p>
            <a:pPr algn="ctr"/>
            <a:r>
              <a:rPr lang="en-US" sz="4800" b="1" dirty="0" smtClean="0">
                <a:ln w="50800"/>
                <a:latin typeface="Bahnschrift SemiBold" pitchFamily="34" charset="0"/>
              </a:rPr>
              <a:t>OSCAR</a:t>
            </a:r>
            <a:endParaRPr lang="en-US" sz="4800" b="1" dirty="0">
              <a:ln w="50800"/>
              <a:latin typeface="Bahnschrift SemiBold" pitchFamily="34" charset="0"/>
            </a:endParaRPr>
          </a:p>
        </p:txBody>
      </p:sp>
      <p:pic>
        <p:nvPicPr>
          <p:cNvPr id="13" name="Picture 12" descr="bui.png"/>
          <p:cNvPicPr>
            <a:picLocks noChangeAspect="1"/>
          </p:cNvPicPr>
          <p:nvPr/>
        </p:nvPicPr>
        <p:blipFill>
          <a:blip r:embed="rId7" cstate="print"/>
          <a:stretch>
            <a:fillRect/>
          </a:stretch>
        </p:blipFill>
        <p:spPr>
          <a:xfrm>
            <a:off x="4114800" y="3696789"/>
            <a:ext cx="1066800" cy="3200400"/>
          </a:xfrm>
          <a:prstGeom prst="rect">
            <a:avLst/>
          </a:prstGeom>
        </p:spPr>
      </p:pic>
      <p:sp>
        <p:nvSpPr>
          <p:cNvPr id="15" name="Parallelogram 14"/>
          <p:cNvSpPr/>
          <p:nvPr/>
        </p:nvSpPr>
        <p:spPr>
          <a:xfrm>
            <a:off x="9448799" y="2286000"/>
            <a:ext cx="2781301" cy="2438400"/>
          </a:xfrm>
          <a:prstGeom prst="parallelogram">
            <a:avLst/>
          </a:prstGeom>
          <a:solidFill>
            <a:srgbClr val="009999">
              <a:alpha val="70000"/>
            </a:srgbClr>
          </a:solidFill>
          <a:ln>
            <a:solidFill>
              <a:srgbClr val="00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617524513"/>
      </p:ext>
    </p:extLst>
  </p:cSld>
  <p:clrMapOvr>
    <a:masterClrMapping/>
  </p:clrMapOvr>
  <p:transition spd="slow" advTm="13498"/>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iterate type="lt">
                                    <p:tmPct val="0"/>
                                  </p:iterate>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0.70"/>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1000" fill="hold"/>
                                        <p:tgtEl>
                                          <p:spTgt spid="15"/>
                                        </p:tgtEl>
                                        <p:attrNameLst>
                                          <p:attrName>ppt_w</p:attrName>
                                        </p:attrNameLst>
                                      </p:cBhvr>
                                      <p:tavLst>
                                        <p:tav tm="0">
                                          <p:val>
                                            <p:strVal val="#ppt_w*0.70"/>
                                          </p:val>
                                        </p:tav>
                                        <p:tav tm="100000">
                                          <p:val>
                                            <p:strVal val="#ppt_w"/>
                                          </p:val>
                                        </p:tav>
                                      </p:tavLst>
                                    </p:anim>
                                    <p:anim calcmode="lin" valueType="num">
                                      <p:cBhvr>
                                        <p:cTn id="15" dur="1000" fill="hold"/>
                                        <p:tgtEl>
                                          <p:spTgt spid="15"/>
                                        </p:tgtEl>
                                        <p:attrNameLst>
                                          <p:attrName>ppt_h</p:attrName>
                                        </p:attrNameLst>
                                      </p:cBhvr>
                                      <p:tavLst>
                                        <p:tav tm="0">
                                          <p:val>
                                            <p:strVal val="#ppt_h"/>
                                          </p:val>
                                        </p:tav>
                                        <p:tav tm="100000">
                                          <p:val>
                                            <p:strVal val="#ppt_h"/>
                                          </p:val>
                                        </p:tav>
                                      </p:tavLst>
                                    </p:anim>
                                    <p:animEffect transition="in" filter="fade">
                                      <p:cBhvr>
                                        <p:cTn id="16"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916577"/>
          </a:xfrm>
        </p:spPr>
        <p:txBody>
          <a:bodyPr/>
          <a:lstStyle/>
          <a:p>
            <a:r>
              <a:rPr lang="en-US" b="1" i="1" u="sng" dirty="0" smtClean="0"/>
              <a:t>Group</a:t>
            </a:r>
            <a:endParaRPr lang="en-US" b="1" i="1" u="sng" dirty="0"/>
          </a:p>
        </p:txBody>
      </p:sp>
      <p:sp>
        <p:nvSpPr>
          <p:cNvPr id="3" name="Text Placeholder 2"/>
          <p:cNvSpPr>
            <a:spLocks noGrp="1"/>
          </p:cNvSpPr>
          <p:nvPr>
            <p:ph type="body" sz="half" idx="2"/>
          </p:nvPr>
        </p:nvSpPr>
        <p:spPr>
          <a:xfrm>
            <a:off x="1154954" y="2246811"/>
            <a:ext cx="8825659" cy="3772989"/>
          </a:xfrm>
        </p:spPr>
        <p:txBody>
          <a:bodyPr>
            <a:normAutofit/>
          </a:bodyPr>
          <a:lstStyle/>
          <a:p>
            <a:pPr marL="457200" indent="-457200">
              <a:buFont typeface="Wingdings" panose="05000000000000000000" pitchFamily="2" charset="2"/>
              <a:buChar char="q"/>
            </a:pPr>
            <a:r>
              <a:rPr lang="en-US" sz="3200" dirty="0" smtClean="0"/>
              <a:t>BITF18M525 M.ARJAD BIN GOHAR</a:t>
            </a:r>
          </a:p>
          <a:p>
            <a:pPr marL="457200" indent="-457200">
              <a:buFont typeface="Wingdings" panose="05000000000000000000" pitchFamily="2" charset="2"/>
              <a:buChar char="q"/>
            </a:pPr>
            <a:r>
              <a:rPr lang="en-US" sz="3200" dirty="0" smtClean="0"/>
              <a:t>BITF18M541 </a:t>
            </a:r>
            <a:r>
              <a:rPr lang="en-US" sz="3200" dirty="0" smtClean="0"/>
              <a:t>MUHAMMAD ZAKRIA</a:t>
            </a:r>
          </a:p>
          <a:p>
            <a:pPr marL="457200" indent="-457200">
              <a:buFont typeface="Wingdings" panose="05000000000000000000" pitchFamily="2" charset="2"/>
              <a:buChar char="q"/>
            </a:pPr>
            <a:r>
              <a:rPr lang="en-US" sz="3200" dirty="0" smtClean="0"/>
              <a:t>BITF18M5236 SHEERAZ AHMAD</a:t>
            </a:r>
            <a:endParaRPr lang="en-US" sz="3200" dirty="0"/>
          </a:p>
        </p:txBody>
      </p:sp>
    </p:spTree>
    <p:extLst>
      <p:ext uri="{BB962C8B-B14F-4D97-AF65-F5344CB8AC3E}">
        <p14:creationId xmlns:p14="http://schemas.microsoft.com/office/powerpoint/2010/main" val="276246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OSCAR</a:t>
            </a:r>
            <a:endParaRPr lang="en-US" dirty="0"/>
          </a:p>
        </p:txBody>
      </p:sp>
      <p:sp>
        <p:nvSpPr>
          <p:cNvPr id="3" name="Text Placeholder 2"/>
          <p:cNvSpPr>
            <a:spLocks noGrp="1"/>
          </p:cNvSpPr>
          <p:nvPr>
            <p:ph type="body" sz="half" idx="2"/>
          </p:nvPr>
        </p:nvSpPr>
        <p:spPr>
          <a:xfrm>
            <a:off x="1154954" y="2325189"/>
            <a:ext cx="8825659" cy="3694611"/>
          </a:xfrm>
        </p:spPr>
        <p:txBody>
          <a:bodyPr/>
          <a:lstStyle/>
          <a:p>
            <a:r>
              <a:rPr lang="en-US" dirty="0" smtClean="0"/>
              <a:t>OSCAR is artificial intelligence program built by three group members. It is made to make your life easier. It can do many things by listening to your commands. You can ask common questions. It can play music, open app on your PC. It can search on </a:t>
            </a:r>
            <a:r>
              <a:rPr lang="en-US" dirty="0" err="1" smtClean="0"/>
              <a:t>wikipedia</a:t>
            </a:r>
            <a:r>
              <a:rPr lang="en-US" dirty="0" smtClean="0"/>
              <a:t>, google and google news. Coding and explanation is on other file.</a:t>
            </a:r>
          </a:p>
          <a:p>
            <a:endParaRPr lang="en-US" dirty="0"/>
          </a:p>
        </p:txBody>
      </p:sp>
    </p:spTree>
    <p:extLst>
      <p:ext uri="{BB962C8B-B14F-4D97-AF65-F5344CB8AC3E}">
        <p14:creationId xmlns:p14="http://schemas.microsoft.com/office/powerpoint/2010/main" val="32510813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6|0.6|0.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17</TotalTime>
  <Words>87</Words>
  <Application>Microsoft Office PowerPoint</Application>
  <PresentationFormat>Widescreen</PresentationFormat>
  <Paragraphs>17</Paragraphs>
  <Slides>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Bahnschrift SemiBold</vt:lpstr>
      <vt:lpstr>Calibri</vt:lpstr>
      <vt:lpstr>Century Gothic</vt:lpstr>
      <vt:lpstr>Wingdings</vt:lpstr>
      <vt:lpstr>Wingdings 3</vt:lpstr>
      <vt:lpstr>Ion</vt:lpstr>
      <vt:lpstr>PowerPoint Presentation</vt:lpstr>
      <vt:lpstr>Group</vt:lpstr>
      <vt:lpstr>OSCAR</vt:lpstr>
    </vt:vector>
  </TitlesOfParts>
  <Company>MRT www.Win2Farsi.com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arjad</dc:creator>
  <cp:lastModifiedBy>arjad</cp:lastModifiedBy>
  <cp:revision>3</cp:revision>
  <dcterms:created xsi:type="dcterms:W3CDTF">2021-01-17T15:04:38Z</dcterms:created>
  <dcterms:modified xsi:type="dcterms:W3CDTF">2021-01-17T15:25:27Z</dcterms:modified>
</cp:coreProperties>
</file>